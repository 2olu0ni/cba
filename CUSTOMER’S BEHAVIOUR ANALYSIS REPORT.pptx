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4" r:id="rId7"/>
    <p:sldId id="262" r:id="rId8"/>
    <p:sldId id="260"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DA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77" d="100"/>
          <a:sy n="77" d="100"/>
        </p:scale>
        <p:origin x="7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8620D-93BB-4EC5-8F25-890BBF0F48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983D3-251F-468E-AC7B-7BBD42C27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F10054-049C-400D-8698-66D5525E9EB7}"/>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30FEF371-C777-4482-ADEE-00E9DC692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C595A1-B074-49B3-BBB7-95C807789276}"/>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3836766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14E65-7359-4658-9E6C-78A2A04B6E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42DD2-D010-40D4-B0DC-71B0580166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41759B-8C2C-4E54-B815-523DF968C26A}"/>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AA86C727-D10C-4C31-AAC7-229E4FF48A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D481D3-6D50-481B-BE20-84AF51D08F4B}"/>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20488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28916-1392-4872-8097-5EDAFA8065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87E722-EA6A-47F3-B1F9-3FAA2B8E9C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FB6189-2E0A-4161-82A4-C431BAB7A19F}"/>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924B15D7-BE68-4E0C-883F-BACF0DE35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CF8E40-7F31-4E83-B3A8-7AF91C75D712}"/>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2420131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16E6-618E-4030-9F4F-3A689D98B0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654467-FA9F-4502-B37F-C03E3289E6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1E2DF1-88CB-4E31-B856-7559D22A6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36DD34-8BC2-4B6C-9305-0E1B53362D6F}"/>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6" name="Footer Placeholder 5">
            <a:extLst>
              <a:ext uri="{FF2B5EF4-FFF2-40B4-BE49-F238E27FC236}">
                <a16:creationId xmlns:a16="http://schemas.microsoft.com/office/drawing/2014/main" id="{B2814E1C-EE04-4B3A-B250-894208268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7BAA90-6893-4F2D-B91F-3E0FE6EF250A}"/>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4152395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8BE50-015A-4E3F-A2E2-021C3AEF5F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47F0AB-510E-4C88-8CB2-A2DC413766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8732B9-8732-4B9D-840D-90F0A2AF09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A3D70D-B359-4366-A00D-4B434C4D0D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CF42D8-1C1D-448D-84FF-28A2CC8776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5B6C75-64EC-44D7-B624-D2FED51D36DA}"/>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8" name="Footer Placeholder 7">
            <a:extLst>
              <a:ext uri="{FF2B5EF4-FFF2-40B4-BE49-F238E27FC236}">
                <a16:creationId xmlns:a16="http://schemas.microsoft.com/office/drawing/2014/main" id="{2D5AF511-2857-4659-BB67-A6459B062C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5D9265-7A64-4A9C-B257-B12879C59316}"/>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2903603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31C99-5197-40DF-87A6-727D0793A1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B21799-F697-4F4A-85CC-ED0D3D02C8DE}"/>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4" name="Footer Placeholder 3">
            <a:extLst>
              <a:ext uri="{FF2B5EF4-FFF2-40B4-BE49-F238E27FC236}">
                <a16:creationId xmlns:a16="http://schemas.microsoft.com/office/drawing/2014/main" id="{0DDC1649-41AC-475E-8489-0DF98EF463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9D4418-9F9C-40F7-B10B-67A7A0810614}"/>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2878676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03ED60-5CDB-46EC-A35B-3232A020B4DF}"/>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3" name="Footer Placeholder 2">
            <a:extLst>
              <a:ext uri="{FF2B5EF4-FFF2-40B4-BE49-F238E27FC236}">
                <a16:creationId xmlns:a16="http://schemas.microsoft.com/office/drawing/2014/main" id="{4D9097F9-7F43-4145-BA15-9B6C76F7D0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356992-26A4-40AD-A65F-6AE2B04CBACC}"/>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607928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C6362-94FB-432B-B94A-E09E8B7FB0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3BC593-A336-42B3-AF7E-7FF42D7FCA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AEB98D-069D-4EB5-B18C-6E1DDFF014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EFF0B-298C-4F97-9C2D-C6421CA33CF2}"/>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6" name="Footer Placeholder 5">
            <a:extLst>
              <a:ext uri="{FF2B5EF4-FFF2-40B4-BE49-F238E27FC236}">
                <a16:creationId xmlns:a16="http://schemas.microsoft.com/office/drawing/2014/main" id="{AEA74FCA-A783-4E3B-805A-EBC090D407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7EF1D4-674E-471D-99F2-FCF99449F8E8}"/>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44157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8A04-C51F-40F2-A7BB-AE5347CB23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00F7ED-E1ED-488C-8230-F2CBE9865E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A2255D-A805-426F-B693-BFD9BE755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16F05-B808-4E74-A469-8C7A76E9DA36}"/>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6" name="Footer Placeholder 5">
            <a:extLst>
              <a:ext uri="{FF2B5EF4-FFF2-40B4-BE49-F238E27FC236}">
                <a16:creationId xmlns:a16="http://schemas.microsoft.com/office/drawing/2014/main" id="{B4AB04CD-F90C-4E95-B126-5DA0F0666A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2E4AA0-76FE-4881-8CCD-6BF26676CC4F}"/>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4033239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AA58-9897-4B8A-BA02-BA35FE5859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F911DE-6276-4908-8E09-FA2AE4365A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9DACB-4D44-4BAA-BA99-5D61A030CEE9}"/>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64726105-DD68-4F93-8A76-143E61653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9343B-E4ED-4FAA-9DED-5F92B7DD315C}"/>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4149500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3964E8-B0CE-47E0-A0F7-4A2DCD3430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CFF9AB-816A-4290-A9E2-8F1FCF1231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FB0F2C-6F00-4115-A555-606D5037196C}"/>
              </a:ext>
            </a:extLst>
          </p:cNvPr>
          <p:cNvSpPr>
            <a:spLocks noGrp="1"/>
          </p:cNvSpPr>
          <p:nvPr>
            <p:ph type="dt" sz="half" idx="10"/>
          </p:nvPr>
        </p:nvSpPr>
        <p:spPr/>
        <p:txBody>
          <a:body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C02AD3A8-7144-4542-BB0A-28186437B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3CFDD-5703-4DE1-9AF6-7EE915A8121D}"/>
              </a:ext>
            </a:extLst>
          </p:cNvPr>
          <p:cNvSpPr>
            <a:spLocks noGrp="1"/>
          </p:cNvSpPr>
          <p:nvPr>
            <p:ph type="sldNum" sz="quarter" idx="12"/>
          </p:nvPr>
        </p:nvSpPr>
        <p:spPr/>
        <p:txBody>
          <a:bodyPr/>
          <a:lstStyle/>
          <a:p>
            <a:fld id="{48355AF2-651F-4418-BFF2-9BA2F4275BB2}" type="slidenum">
              <a:rPr lang="en-US" smtClean="0"/>
              <a:t>‹#›</a:t>
            </a:fld>
            <a:endParaRPr lang="en-US"/>
          </a:p>
        </p:txBody>
      </p:sp>
    </p:spTree>
    <p:extLst>
      <p:ext uri="{BB962C8B-B14F-4D97-AF65-F5344CB8AC3E}">
        <p14:creationId xmlns:p14="http://schemas.microsoft.com/office/powerpoint/2010/main" val="3929187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466584-10E1-40A4-B9F6-797497E7E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E26A86-1FCD-46F8-BD78-8C1261E4AD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801920-CCAC-45DE-BCDE-3783E68714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26C3A5-AAA5-4EDB-9A65-F3C9EBDA0E92}" type="datetimeFigureOut">
              <a:rPr lang="en-US" smtClean="0"/>
              <a:t>1/5/2026</a:t>
            </a:fld>
            <a:endParaRPr lang="en-US"/>
          </a:p>
        </p:txBody>
      </p:sp>
      <p:sp>
        <p:nvSpPr>
          <p:cNvPr id="5" name="Footer Placeholder 4">
            <a:extLst>
              <a:ext uri="{FF2B5EF4-FFF2-40B4-BE49-F238E27FC236}">
                <a16:creationId xmlns:a16="http://schemas.microsoft.com/office/drawing/2014/main" id="{4CBB4636-BD32-4142-BFE9-DDD16CDB43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6F465C-2EF5-4E95-9E3B-855A0D1A27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355AF2-651F-4418-BFF2-9BA2F4275BB2}" type="slidenum">
              <a:rPr lang="en-US" smtClean="0"/>
              <a:t>‹#›</a:t>
            </a:fld>
            <a:endParaRPr lang="en-US"/>
          </a:p>
        </p:txBody>
      </p:sp>
    </p:spTree>
    <p:extLst>
      <p:ext uri="{BB962C8B-B14F-4D97-AF65-F5344CB8AC3E}">
        <p14:creationId xmlns:p14="http://schemas.microsoft.com/office/powerpoint/2010/main" val="1877369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32A6-AA09-45C4-B4B7-D8B402A21DF1}"/>
              </a:ext>
            </a:extLst>
          </p:cNvPr>
          <p:cNvSpPr>
            <a:spLocks noGrp="1"/>
          </p:cNvSpPr>
          <p:nvPr>
            <p:ph type="ctrTitle"/>
          </p:nvPr>
        </p:nvSpPr>
        <p:spPr>
          <a:xfrm>
            <a:off x="1225118" y="318053"/>
            <a:ext cx="10235954" cy="1878496"/>
          </a:xfrm>
        </p:spPr>
        <p:txBody>
          <a:bodyPr/>
          <a:lstStyle/>
          <a:p>
            <a:r>
              <a:rPr lang="en-US" b="1" dirty="0"/>
              <a:t>CUSTOMER’S BEHAVIOUR ANALYSIS REPORT</a:t>
            </a:r>
          </a:p>
        </p:txBody>
      </p:sp>
      <p:sp>
        <p:nvSpPr>
          <p:cNvPr id="3" name="Subtitle 2">
            <a:extLst>
              <a:ext uri="{FF2B5EF4-FFF2-40B4-BE49-F238E27FC236}">
                <a16:creationId xmlns:a16="http://schemas.microsoft.com/office/drawing/2014/main" id="{33B54354-A4B8-407B-9B8C-B00686E43266}"/>
              </a:ext>
            </a:extLst>
          </p:cNvPr>
          <p:cNvSpPr>
            <a:spLocks noGrp="1"/>
          </p:cNvSpPr>
          <p:nvPr>
            <p:ph type="subTitle" idx="1"/>
          </p:nvPr>
        </p:nvSpPr>
        <p:spPr>
          <a:xfrm>
            <a:off x="1524000" y="4363278"/>
            <a:ext cx="9144000" cy="1411356"/>
          </a:xfrm>
        </p:spPr>
        <p:txBody>
          <a:bodyPr>
            <a:normAutofit fontScale="85000" lnSpcReduction="20000"/>
          </a:bodyPr>
          <a:lstStyle/>
          <a:p>
            <a:pPr algn="r"/>
            <a:endParaRPr lang="en-US" dirty="0"/>
          </a:p>
          <a:p>
            <a:pPr algn="r"/>
            <a:endParaRPr lang="en-US" dirty="0"/>
          </a:p>
          <a:p>
            <a:pPr algn="r"/>
            <a:r>
              <a:rPr lang="en-US" dirty="0"/>
              <a:t>Prepared by – Tolulope Oni</a:t>
            </a:r>
          </a:p>
          <a:p>
            <a:pPr algn="r"/>
            <a:r>
              <a:rPr lang="en-US" dirty="0"/>
              <a:t>Tool Used - Power BI | Power Query(Data Cleaning)</a:t>
            </a:r>
          </a:p>
        </p:txBody>
      </p:sp>
      <p:sp>
        <p:nvSpPr>
          <p:cNvPr id="5" name="TextBox 4">
            <a:extLst>
              <a:ext uri="{FF2B5EF4-FFF2-40B4-BE49-F238E27FC236}">
                <a16:creationId xmlns:a16="http://schemas.microsoft.com/office/drawing/2014/main" id="{D0970658-6226-4D1A-AD24-B5F9D89C7272}"/>
              </a:ext>
            </a:extLst>
          </p:cNvPr>
          <p:cNvSpPr txBox="1"/>
          <p:nvPr/>
        </p:nvSpPr>
        <p:spPr>
          <a:xfrm>
            <a:off x="745435" y="2812774"/>
            <a:ext cx="9591261" cy="1384995"/>
          </a:xfrm>
          <a:prstGeom prst="rect">
            <a:avLst/>
          </a:prstGeom>
          <a:noFill/>
        </p:spPr>
        <p:txBody>
          <a:bodyPr wrap="square" rtlCol="0">
            <a:spAutoFit/>
          </a:bodyPr>
          <a:lstStyle/>
          <a:p>
            <a:r>
              <a:rPr lang="en-US" sz="2800" dirty="0"/>
              <a:t>Customer Behaviour Analysis for an E-commerce Business: Understanding Customer Value, Engagement, and Retention Drivers</a:t>
            </a:r>
          </a:p>
        </p:txBody>
      </p:sp>
    </p:spTree>
    <p:extLst>
      <p:ext uri="{BB962C8B-B14F-4D97-AF65-F5344CB8AC3E}">
        <p14:creationId xmlns:p14="http://schemas.microsoft.com/office/powerpoint/2010/main" val="2134101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BC122-2A80-4E52-837D-FB6187CEC8C2}"/>
              </a:ext>
            </a:extLst>
          </p:cNvPr>
          <p:cNvSpPr>
            <a:spLocks noGrp="1"/>
          </p:cNvSpPr>
          <p:nvPr>
            <p:ph type="title"/>
          </p:nvPr>
        </p:nvSpPr>
        <p:spPr/>
        <p:txBody>
          <a:bodyPr/>
          <a:lstStyle/>
          <a:p>
            <a:pPr algn="r"/>
            <a:r>
              <a:rPr lang="en-US" b="1" dirty="0"/>
              <a:t>OBJECTIVES</a:t>
            </a:r>
          </a:p>
        </p:txBody>
      </p:sp>
      <p:sp>
        <p:nvSpPr>
          <p:cNvPr id="3" name="Content Placeholder 2">
            <a:extLst>
              <a:ext uri="{FF2B5EF4-FFF2-40B4-BE49-F238E27FC236}">
                <a16:creationId xmlns:a16="http://schemas.microsoft.com/office/drawing/2014/main" id="{F3B93238-298F-455E-9915-9AAB6312189B}"/>
              </a:ext>
            </a:extLst>
          </p:cNvPr>
          <p:cNvSpPr>
            <a:spLocks noGrp="1"/>
          </p:cNvSpPr>
          <p:nvPr>
            <p:ph idx="1"/>
          </p:nvPr>
        </p:nvSpPr>
        <p:spPr/>
        <p:txBody>
          <a:bodyPr/>
          <a:lstStyle/>
          <a:p>
            <a:r>
              <a:rPr lang="en-US" b="1" dirty="0"/>
              <a:t>This reports covers:</a:t>
            </a:r>
          </a:p>
          <a:p>
            <a:pPr marL="0" indent="0">
              <a:buNone/>
            </a:pPr>
            <a:endParaRPr lang="en-US" dirty="0"/>
          </a:p>
          <a:p>
            <a:r>
              <a:rPr lang="en-US" dirty="0"/>
              <a:t>Product performance</a:t>
            </a:r>
          </a:p>
          <a:p>
            <a:r>
              <a:rPr lang="en-US" dirty="0"/>
              <a:t>Segmentation</a:t>
            </a:r>
          </a:p>
          <a:p>
            <a:r>
              <a:rPr lang="en-US" dirty="0"/>
              <a:t>Drop-off point</a:t>
            </a:r>
          </a:p>
          <a:p>
            <a:r>
              <a:rPr lang="en-US" dirty="0"/>
              <a:t>Engagement and revenue.</a:t>
            </a:r>
          </a:p>
          <a:p>
            <a:endParaRPr lang="en-US" dirty="0"/>
          </a:p>
        </p:txBody>
      </p:sp>
    </p:spTree>
    <p:extLst>
      <p:ext uri="{BB962C8B-B14F-4D97-AF65-F5344CB8AC3E}">
        <p14:creationId xmlns:p14="http://schemas.microsoft.com/office/powerpoint/2010/main" val="41297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F83BC-EA08-4D2C-8C72-ABEE1B51647D}"/>
              </a:ext>
            </a:extLst>
          </p:cNvPr>
          <p:cNvSpPr>
            <a:spLocks noGrp="1"/>
          </p:cNvSpPr>
          <p:nvPr>
            <p:ph type="title"/>
          </p:nvPr>
        </p:nvSpPr>
        <p:spPr/>
        <p:txBody>
          <a:bodyPr/>
          <a:lstStyle/>
          <a:p>
            <a:pPr algn="r"/>
            <a:r>
              <a:rPr lang="en-US" b="1" dirty="0"/>
              <a:t>DATASET OVERVIEW</a:t>
            </a:r>
          </a:p>
        </p:txBody>
      </p:sp>
      <p:sp>
        <p:nvSpPr>
          <p:cNvPr id="3" name="Content Placeholder 2">
            <a:extLst>
              <a:ext uri="{FF2B5EF4-FFF2-40B4-BE49-F238E27FC236}">
                <a16:creationId xmlns:a16="http://schemas.microsoft.com/office/drawing/2014/main" id="{88B81D2A-DDC3-46D8-B13D-2C3A80F872EF}"/>
              </a:ext>
            </a:extLst>
          </p:cNvPr>
          <p:cNvSpPr>
            <a:spLocks noGrp="1"/>
          </p:cNvSpPr>
          <p:nvPr>
            <p:ph idx="1"/>
          </p:nvPr>
        </p:nvSpPr>
        <p:spPr/>
        <p:txBody>
          <a:bodyPr/>
          <a:lstStyle/>
          <a:p>
            <a:r>
              <a:rPr lang="en-US" sz="2400" dirty="0"/>
              <a:t>This dataset contains 5000 e-commerce transactions from a Turkish online retail platform, spanning from January 2023 to march 2024</a:t>
            </a:r>
          </a:p>
          <a:p>
            <a:endParaRPr lang="en-US" sz="2400" dirty="0"/>
          </a:p>
          <a:p>
            <a:r>
              <a:rPr lang="en-US" sz="2400" dirty="0"/>
              <a:t>The dataset has 18 columns and 17049 rows which provides detailed insights into customer demographics, purchasing </a:t>
            </a:r>
            <a:r>
              <a:rPr lang="en-US" sz="2400" dirty="0" err="1"/>
              <a:t>behaviour</a:t>
            </a:r>
            <a:r>
              <a:rPr lang="en-US" sz="2400" dirty="0"/>
              <a:t>, product preferences and engagement metrics.</a:t>
            </a:r>
          </a:p>
          <a:p>
            <a:pPr marL="0" indent="0">
              <a:buNone/>
            </a:pPr>
            <a:endParaRPr lang="en-US" dirty="0"/>
          </a:p>
        </p:txBody>
      </p:sp>
    </p:spTree>
    <p:extLst>
      <p:ext uri="{BB962C8B-B14F-4D97-AF65-F5344CB8AC3E}">
        <p14:creationId xmlns:p14="http://schemas.microsoft.com/office/powerpoint/2010/main" val="2820569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9AABE-E543-45F1-9F42-591AE94090CF}"/>
              </a:ext>
            </a:extLst>
          </p:cNvPr>
          <p:cNvSpPr>
            <a:spLocks noGrp="1"/>
          </p:cNvSpPr>
          <p:nvPr>
            <p:ph type="title"/>
          </p:nvPr>
        </p:nvSpPr>
        <p:spPr/>
        <p:txBody>
          <a:bodyPr/>
          <a:lstStyle/>
          <a:p>
            <a:pPr algn="r"/>
            <a:r>
              <a:rPr lang="en-US" b="1" dirty="0"/>
              <a:t>KEY INSIGHTS</a:t>
            </a:r>
          </a:p>
        </p:txBody>
      </p:sp>
      <p:sp>
        <p:nvSpPr>
          <p:cNvPr id="3" name="Content Placeholder 2">
            <a:extLst>
              <a:ext uri="{FF2B5EF4-FFF2-40B4-BE49-F238E27FC236}">
                <a16:creationId xmlns:a16="http://schemas.microsoft.com/office/drawing/2014/main" id="{D6C246B3-6FD8-42E1-B6E1-C76FBA3ED315}"/>
              </a:ext>
            </a:extLst>
          </p:cNvPr>
          <p:cNvSpPr>
            <a:spLocks noGrp="1"/>
          </p:cNvSpPr>
          <p:nvPr>
            <p:ph idx="1"/>
          </p:nvPr>
        </p:nvSpPr>
        <p:spPr>
          <a:xfrm>
            <a:off x="838200" y="1331843"/>
            <a:ext cx="10515600" cy="5161032"/>
          </a:xfrm>
        </p:spPr>
        <p:txBody>
          <a:bodyPr>
            <a:normAutofit/>
          </a:bodyPr>
          <a:lstStyle/>
          <a:p>
            <a:pPr marL="0" indent="0">
              <a:buNone/>
            </a:pPr>
            <a:r>
              <a:rPr lang="en-US" b="1" dirty="0"/>
              <a:t>A. Revenue contribution by customer</a:t>
            </a:r>
          </a:p>
          <a:p>
            <a:r>
              <a:rPr lang="en-US" sz="2000" dirty="0"/>
              <a:t>The analysis shows that the top 500 customers contribute approximately 38.8% of total revenue, indicating a concentrated revenue structure driven by a relatively small group of high-value, repeat customers. This highlights both a retention opportunity and a revenue risk if these customers are not effectively managed</a:t>
            </a:r>
          </a:p>
          <a:p>
            <a:endParaRPr lang="en-US" b="1" dirty="0"/>
          </a:p>
          <a:p>
            <a:pPr marL="0" indent="0">
              <a:buNone/>
            </a:pPr>
            <a:r>
              <a:rPr lang="en-US" b="1" dirty="0"/>
              <a:t>B. Repeat vs One-Time Customer Behavior</a:t>
            </a:r>
          </a:p>
          <a:p>
            <a:r>
              <a:rPr lang="en-US" sz="2000" dirty="0"/>
              <a:t>The higher number of returning-customer (Approximately 60%) transactions compared to one-time purchases indicates that many customers place multiple orders. While the dataset contains 5,000 unique customers, repeat customers generate several transactions each, highlighting strong engagement and a revenue model driven largely by returning customers</a:t>
            </a:r>
            <a:endParaRPr lang="en-US" dirty="0"/>
          </a:p>
          <a:p>
            <a:endParaRPr lang="en-US" dirty="0"/>
          </a:p>
          <a:p>
            <a:endParaRPr lang="en-US" dirty="0"/>
          </a:p>
        </p:txBody>
      </p:sp>
    </p:spTree>
    <p:extLst>
      <p:ext uri="{BB962C8B-B14F-4D97-AF65-F5344CB8AC3E}">
        <p14:creationId xmlns:p14="http://schemas.microsoft.com/office/powerpoint/2010/main" val="4161411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B719-0533-41FE-9A16-16740BD606C2}"/>
              </a:ext>
            </a:extLst>
          </p:cNvPr>
          <p:cNvSpPr>
            <a:spLocks noGrp="1"/>
          </p:cNvSpPr>
          <p:nvPr>
            <p:ph type="title"/>
          </p:nvPr>
        </p:nvSpPr>
        <p:spPr>
          <a:xfrm>
            <a:off x="1027044" y="161246"/>
            <a:ext cx="10515600" cy="710214"/>
          </a:xfrm>
        </p:spPr>
        <p:txBody>
          <a:bodyPr/>
          <a:lstStyle/>
          <a:p>
            <a:pPr algn="r"/>
            <a:r>
              <a:rPr lang="en-US" b="1" dirty="0"/>
              <a:t>KEY INSIGHTS</a:t>
            </a:r>
            <a:endParaRPr lang="en-US" dirty="0"/>
          </a:p>
        </p:txBody>
      </p:sp>
      <p:sp>
        <p:nvSpPr>
          <p:cNvPr id="3" name="Content Placeholder 2">
            <a:extLst>
              <a:ext uri="{FF2B5EF4-FFF2-40B4-BE49-F238E27FC236}">
                <a16:creationId xmlns:a16="http://schemas.microsoft.com/office/drawing/2014/main" id="{90033B1C-7467-4C50-8F92-E7BA1AED8547}"/>
              </a:ext>
            </a:extLst>
          </p:cNvPr>
          <p:cNvSpPr>
            <a:spLocks noGrp="1"/>
          </p:cNvSpPr>
          <p:nvPr>
            <p:ph idx="1"/>
          </p:nvPr>
        </p:nvSpPr>
        <p:spPr>
          <a:xfrm>
            <a:off x="838200" y="1222513"/>
            <a:ext cx="11084511" cy="4954450"/>
          </a:xfrm>
        </p:spPr>
        <p:txBody>
          <a:bodyPr/>
          <a:lstStyle/>
          <a:p>
            <a:pPr marL="0" indent="0">
              <a:buNone/>
            </a:pPr>
            <a:r>
              <a:rPr lang="en-US" b="1" dirty="0"/>
              <a:t>C. Customer Segmentation</a:t>
            </a:r>
          </a:p>
          <a:p>
            <a:r>
              <a:rPr lang="en-US" sz="2000" dirty="0"/>
              <a:t>Customer revenue contribution is heavily concentrated among young adults, with gender playing a secondary role</a:t>
            </a:r>
            <a:r>
              <a:rPr lang="en-US" dirty="0"/>
              <a:t>.</a:t>
            </a:r>
          </a:p>
          <a:p>
            <a:r>
              <a:rPr lang="en-US" sz="2000" dirty="0"/>
              <a:t>Young adults alone contribute 68.3% of total revenue, making them the dominant customer group.</a:t>
            </a:r>
          </a:p>
          <a:p>
            <a:pPr marL="0" indent="0">
              <a:buNone/>
            </a:pPr>
            <a:endParaRPr lang="en-US" b="1" dirty="0"/>
          </a:p>
          <a:p>
            <a:pPr marL="0" indent="0">
              <a:buNone/>
            </a:pPr>
            <a:r>
              <a:rPr lang="en-US" b="1" dirty="0"/>
              <a:t>D. Engagement and revenue.</a:t>
            </a:r>
          </a:p>
          <a:p>
            <a:r>
              <a:rPr lang="en-US" sz="2000" dirty="0"/>
              <a:t>Customer engagement levels are consistent across product categories, but revenue varies significantly</a:t>
            </a:r>
          </a:p>
          <a:p>
            <a:r>
              <a:rPr lang="en-US" sz="2000" dirty="0"/>
              <a:t>Electronics and Home &amp; Garden convert engagement most effectively, while Books, Food, and Toys present monetization opportunities through bundling and upselling</a:t>
            </a:r>
            <a:endParaRPr lang="en-US" sz="2000" b="1" dirty="0"/>
          </a:p>
          <a:p>
            <a:pPr marL="0" indent="0">
              <a:buNone/>
            </a:pPr>
            <a:endParaRPr lang="en-US" b="1" dirty="0"/>
          </a:p>
        </p:txBody>
      </p:sp>
    </p:spTree>
    <p:extLst>
      <p:ext uri="{BB962C8B-B14F-4D97-AF65-F5344CB8AC3E}">
        <p14:creationId xmlns:p14="http://schemas.microsoft.com/office/powerpoint/2010/main" val="178408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18F3-FA78-4979-8555-52698B0B4420}"/>
              </a:ext>
            </a:extLst>
          </p:cNvPr>
          <p:cNvSpPr>
            <a:spLocks noGrp="1"/>
          </p:cNvSpPr>
          <p:nvPr>
            <p:ph type="title"/>
          </p:nvPr>
        </p:nvSpPr>
        <p:spPr/>
        <p:txBody>
          <a:bodyPr/>
          <a:lstStyle/>
          <a:p>
            <a:pPr algn="r"/>
            <a:r>
              <a:rPr lang="en-US" b="1" dirty="0"/>
              <a:t>KEY INSIGHTS</a:t>
            </a:r>
            <a:endParaRPr lang="en-US" dirty="0"/>
          </a:p>
        </p:txBody>
      </p:sp>
      <p:sp>
        <p:nvSpPr>
          <p:cNvPr id="3" name="Content Placeholder 2">
            <a:extLst>
              <a:ext uri="{FF2B5EF4-FFF2-40B4-BE49-F238E27FC236}">
                <a16:creationId xmlns:a16="http://schemas.microsoft.com/office/drawing/2014/main" id="{9BD7BCC3-4A13-4325-8E4F-A34B7AE4B57A}"/>
              </a:ext>
            </a:extLst>
          </p:cNvPr>
          <p:cNvSpPr>
            <a:spLocks noGrp="1"/>
          </p:cNvSpPr>
          <p:nvPr>
            <p:ph idx="1"/>
          </p:nvPr>
        </p:nvSpPr>
        <p:spPr/>
        <p:txBody>
          <a:bodyPr/>
          <a:lstStyle/>
          <a:p>
            <a:pPr marL="0" indent="0">
              <a:buNone/>
            </a:pPr>
            <a:r>
              <a:rPr lang="en-US" b="1" dirty="0"/>
              <a:t>E. Product Category Performance</a:t>
            </a:r>
          </a:p>
          <a:p>
            <a:r>
              <a:rPr lang="en-US" sz="2000" dirty="0"/>
              <a:t>Revenue is heavily concentrated in Electronics, which significantly outperforms all other product categories, while Home &amp; Garden and Sports serve as strong secondary contributors and lower-value categories present monetization opportunities rather than primary revenue drivers</a:t>
            </a:r>
            <a:r>
              <a:rPr lang="en-US" sz="2000" b="1" dirty="0"/>
              <a:t>.</a:t>
            </a:r>
          </a:p>
        </p:txBody>
      </p:sp>
    </p:spTree>
    <p:extLst>
      <p:ext uri="{BB962C8B-B14F-4D97-AF65-F5344CB8AC3E}">
        <p14:creationId xmlns:p14="http://schemas.microsoft.com/office/powerpoint/2010/main" val="160547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8766F-6371-456C-A07F-30A88CF50AA7}"/>
              </a:ext>
            </a:extLst>
          </p:cNvPr>
          <p:cNvSpPr>
            <a:spLocks noGrp="1"/>
          </p:cNvSpPr>
          <p:nvPr>
            <p:ph type="title"/>
          </p:nvPr>
        </p:nvSpPr>
        <p:spPr>
          <a:xfrm>
            <a:off x="838200" y="238539"/>
            <a:ext cx="10515600" cy="705679"/>
          </a:xfrm>
        </p:spPr>
        <p:txBody>
          <a:bodyPr>
            <a:normAutofit/>
          </a:bodyPr>
          <a:lstStyle/>
          <a:p>
            <a:pPr algn="r"/>
            <a:r>
              <a:rPr lang="en-US" sz="4000" b="1" dirty="0"/>
              <a:t>VISUALISATION</a:t>
            </a:r>
          </a:p>
        </p:txBody>
      </p:sp>
      <p:pic>
        <p:nvPicPr>
          <p:cNvPr id="5" name="Picture 4">
            <a:extLst>
              <a:ext uri="{FF2B5EF4-FFF2-40B4-BE49-F238E27FC236}">
                <a16:creationId xmlns:a16="http://schemas.microsoft.com/office/drawing/2014/main" id="{903BF748-96B3-4AFF-946D-94D723E86D8E}"/>
              </a:ext>
            </a:extLst>
          </p:cNvPr>
          <p:cNvPicPr>
            <a:picLocks noChangeAspect="1"/>
          </p:cNvPicPr>
          <p:nvPr/>
        </p:nvPicPr>
        <p:blipFill>
          <a:blip r:embed="rId2"/>
          <a:stretch>
            <a:fillRect/>
          </a:stretch>
        </p:blipFill>
        <p:spPr>
          <a:xfrm>
            <a:off x="-1" y="944218"/>
            <a:ext cx="12155557" cy="5913782"/>
          </a:xfrm>
          <a:prstGeom prst="rect">
            <a:avLst/>
          </a:prstGeom>
        </p:spPr>
      </p:pic>
    </p:spTree>
    <p:extLst>
      <p:ext uri="{BB962C8B-B14F-4D97-AF65-F5344CB8AC3E}">
        <p14:creationId xmlns:p14="http://schemas.microsoft.com/office/powerpoint/2010/main" val="1563726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FCE58-192A-4093-936C-FF976911A567}"/>
              </a:ext>
            </a:extLst>
          </p:cNvPr>
          <p:cNvSpPr>
            <a:spLocks noGrp="1"/>
          </p:cNvSpPr>
          <p:nvPr>
            <p:ph type="title"/>
          </p:nvPr>
        </p:nvSpPr>
        <p:spPr/>
        <p:txBody>
          <a:bodyPr/>
          <a:lstStyle/>
          <a:p>
            <a:pPr algn="r"/>
            <a:r>
              <a:rPr lang="en-US" b="1" dirty="0"/>
              <a:t>RECOMMENDATIONS</a:t>
            </a:r>
          </a:p>
        </p:txBody>
      </p:sp>
      <p:sp useBgFill="1">
        <p:nvSpPr>
          <p:cNvPr id="3" name="Content Placeholder 2">
            <a:extLst>
              <a:ext uri="{FF2B5EF4-FFF2-40B4-BE49-F238E27FC236}">
                <a16:creationId xmlns:a16="http://schemas.microsoft.com/office/drawing/2014/main" id="{799976E0-074A-4121-8DDE-8E2F637E2134}"/>
              </a:ext>
            </a:extLst>
          </p:cNvPr>
          <p:cNvSpPr>
            <a:spLocks noGrp="1"/>
          </p:cNvSpPr>
          <p:nvPr>
            <p:ph idx="1"/>
          </p:nvPr>
        </p:nvSpPr>
        <p:spPr/>
        <p:txBody>
          <a:bodyPr>
            <a:normAutofit/>
          </a:bodyPr>
          <a:lstStyle/>
          <a:p>
            <a:r>
              <a:rPr lang="en-US" sz="2000" dirty="0"/>
              <a:t>Prioritize the top 500 customers as a strategic revenue asset and monitor satisfaction, delivery time, and engagement closely for this group.</a:t>
            </a:r>
          </a:p>
          <a:p>
            <a:r>
              <a:rPr lang="en-US" sz="2000" dirty="0"/>
              <a:t>A sizable number of one-time buyers still exist which gives the opportunity to convert first-time buyers into repeat customers.</a:t>
            </a:r>
          </a:p>
          <a:p>
            <a:r>
              <a:rPr lang="en-US" sz="2000" dirty="0"/>
              <a:t>Double down on young adults through personalized campaigns, loyalty programs and trend driven product promotions</a:t>
            </a:r>
          </a:p>
          <a:p>
            <a:r>
              <a:rPr lang="en-US" sz="2000" dirty="0"/>
              <a:t>Engagement is not problem, conversion and pricing are. Low revenue categories are not uninteresting, they suffer from low unit value, not lack of engagement. Electronics and Home &amp; Garden convert engagement most effectively, while Books, Food, and Toys present monetization opportunities through bundling and upselling</a:t>
            </a:r>
          </a:p>
          <a:p>
            <a:r>
              <a:rPr lang="en-US" sz="2000" dirty="0"/>
              <a:t>Protect and scale Electronics - Ensure availability, competitive pricing, and fast delivery, Prioritize Electronics in marketing campaigns.</a:t>
            </a:r>
          </a:p>
          <a:p>
            <a:endParaRPr lang="en-US" sz="2400" b="1" dirty="0"/>
          </a:p>
          <a:p>
            <a:endParaRPr lang="en-US" sz="2000" dirty="0"/>
          </a:p>
          <a:p>
            <a:endParaRPr lang="en-US" sz="2000" dirty="0"/>
          </a:p>
          <a:p>
            <a:endParaRPr lang="en-US" sz="2400" dirty="0"/>
          </a:p>
          <a:p>
            <a:endParaRPr lang="en-US" sz="2400" dirty="0"/>
          </a:p>
        </p:txBody>
      </p:sp>
    </p:spTree>
    <p:extLst>
      <p:ext uri="{BB962C8B-B14F-4D97-AF65-F5344CB8AC3E}">
        <p14:creationId xmlns:p14="http://schemas.microsoft.com/office/powerpoint/2010/main" val="3483248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5DA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DBDD-4E0B-46B1-B1AE-A0DA60CF7AB6}"/>
              </a:ext>
            </a:extLst>
          </p:cNvPr>
          <p:cNvSpPr>
            <a:spLocks noGrp="1"/>
          </p:cNvSpPr>
          <p:nvPr>
            <p:ph type="title"/>
          </p:nvPr>
        </p:nvSpPr>
        <p:spPr/>
        <p:txBody>
          <a:bodyPr/>
          <a:lstStyle/>
          <a:p>
            <a:pPr algn="r"/>
            <a:r>
              <a:rPr lang="en-US" b="1" dirty="0"/>
              <a:t>CONCLUSION</a:t>
            </a:r>
          </a:p>
        </p:txBody>
      </p:sp>
      <p:sp>
        <p:nvSpPr>
          <p:cNvPr id="3" name="Content Placeholder 2">
            <a:extLst>
              <a:ext uri="{FF2B5EF4-FFF2-40B4-BE49-F238E27FC236}">
                <a16:creationId xmlns:a16="http://schemas.microsoft.com/office/drawing/2014/main" id="{3F1FFDF0-EDB0-4F0E-82AC-5EE209433CCC}"/>
              </a:ext>
            </a:extLst>
          </p:cNvPr>
          <p:cNvSpPr>
            <a:spLocks noGrp="1"/>
          </p:cNvSpPr>
          <p:nvPr>
            <p:ph idx="1"/>
          </p:nvPr>
        </p:nvSpPr>
        <p:spPr>
          <a:xfrm>
            <a:off x="838200" y="1825625"/>
            <a:ext cx="10515600" cy="4237245"/>
          </a:xfrm>
        </p:spPr>
        <p:txBody>
          <a:bodyPr>
            <a:normAutofit fontScale="70000" lnSpcReduction="20000"/>
          </a:bodyPr>
          <a:lstStyle/>
          <a:p>
            <a:pPr marL="0" indent="0">
              <a:buNone/>
            </a:pPr>
            <a:r>
              <a:rPr lang="en-US" dirty="0"/>
              <a:t>The customer </a:t>
            </a:r>
            <a:r>
              <a:rPr lang="en-US" dirty="0" err="1"/>
              <a:t>behaviour</a:t>
            </a:r>
            <a:r>
              <a:rPr lang="en-US" dirty="0"/>
              <a:t> analysis reveals that business performance is driven primarily by a relatively small group of highly engaged, repeat customers and a few high-performing product categories.</a:t>
            </a:r>
          </a:p>
          <a:p>
            <a:pPr marL="0" indent="0">
              <a:buNone/>
            </a:pPr>
            <a:r>
              <a:rPr lang="en-US" dirty="0"/>
              <a:t>Revenue is highly concentrated, with the top 500 customers contributing approximately 38.8% of total spend, indicating strong customer loyalty but also a dependency risk if these customers are not effectively retained. Returning customers generate significantly more transactions than one-time buyers, confirming that repeat behavior is a key driver of revenue growth.</a:t>
            </a:r>
          </a:p>
          <a:p>
            <a:pPr marL="0" indent="0">
              <a:buNone/>
            </a:pPr>
            <a:r>
              <a:rPr lang="en-US" dirty="0"/>
              <a:t>Customer segmentation shows that young adults—across both genders—are the dominant revenue contributors, accounting for the majority of total spend. This suggests that age is a stronger determinant of customer value than gender, and that the business’s offerings are well-aligned with the preferences of this demographic.</a:t>
            </a:r>
          </a:p>
          <a:p>
            <a:pPr marL="0" indent="0">
              <a:buNone/>
            </a:pPr>
            <a:r>
              <a:rPr lang="en-US" dirty="0"/>
              <a:t>From a product perspective, Electronics clearly outperforms all other categories, acting as the primary revenue engine, while Home &amp; Garden and Sports serve as strong secondary contributors. Other categories demonstrate similar engagement levels but lower revenue, indicating that monetization challenges are driven more by pricing and basket size than by lack of customer interest.</a:t>
            </a:r>
          </a:p>
        </p:txBody>
      </p:sp>
    </p:spTree>
    <p:extLst>
      <p:ext uri="{BB962C8B-B14F-4D97-AF65-F5344CB8AC3E}">
        <p14:creationId xmlns:p14="http://schemas.microsoft.com/office/powerpoint/2010/main" val="2088571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3417</TotalTime>
  <Words>677</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CUSTOMER’S BEHAVIOUR ANALYSIS REPORT</vt:lpstr>
      <vt:lpstr>OBJECTIVES</vt:lpstr>
      <vt:lpstr>DATASET OVERVIEW</vt:lpstr>
      <vt:lpstr>KEY INSIGHTS</vt:lpstr>
      <vt:lpstr>KEY INSIGHTS</vt:lpstr>
      <vt:lpstr>KEY INSIGHTS</vt:lpstr>
      <vt:lpstr>VISUALISATION</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CUSTOMER’S BEHAVIOR ANALYSIS REPORT</dc:title>
  <dc:creator>Tolulope Oni</dc:creator>
  <cp:lastModifiedBy>Tolulope Oni</cp:lastModifiedBy>
  <cp:revision>35</cp:revision>
  <dcterms:created xsi:type="dcterms:W3CDTF">2026-01-03T21:48:09Z</dcterms:created>
  <dcterms:modified xsi:type="dcterms:W3CDTF">2026-01-06T15:34:41Z</dcterms:modified>
</cp:coreProperties>
</file>